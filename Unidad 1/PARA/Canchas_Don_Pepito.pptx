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125089809f343e2" /><Relationship Type="http://schemas.openxmlformats.org/officeDocument/2006/relationships/extended-properties" Target="/docProps/app.xml" Id="R35edeb17ab50427f" /><Relationship Type="http://schemas.openxmlformats.org/officeDocument/2006/relationships/officeDocument" Target="/ppt/presentation.xml" Id="R14dd490798ae41b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9bd6fa5de714a96"/>
  </p:sldMasterIdLst>
  <p:notesMasterIdLst>
    <p:notesMasterId xmlns:r="http://schemas.openxmlformats.org/officeDocument/2006/relationships" r:id="Raef0330bfa1041d9"/>
  </p:notesMasterIdLst>
  <p:sldIdLst>
    <p:sldId xmlns:r="http://schemas.openxmlformats.org/officeDocument/2006/relationships" id="256" r:id="R1e981ee711ca4f95"/>
    <p:sldId xmlns:r="http://schemas.openxmlformats.org/officeDocument/2006/relationships" id="257" r:id="R58e646b54571408e"/>
    <p:sldId xmlns:r="http://schemas.openxmlformats.org/officeDocument/2006/relationships" id="258" r:id="R3fb36bfca6c94f75"/>
    <p:sldId xmlns:r="http://schemas.openxmlformats.org/officeDocument/2006/relationships" id="259" r:id="R4972f248d52d4833"/>
    <p:sldId xmlns:r="http://schemas.openxmlformats.org/officeDocument/2006/relationships" id="260" r:id="Ra5098ecbf1ef4b64"/>
    <p:sldId xmlns:r="http://schemas.openxmlformats.org/officeDocument/2006/relationships" id="261" r:id="R9e16cdf5bc9f4110"/>
    <p:sldId xmlns:r="http://schemas.openxmlformats.org/officeDocument/2006/relationships" id="262" r:id="Rc47a7f27047f4cb1"/>
    <p:sldId xmlns:r="http://schemas.openxmlformats.org/officeDocument/2006/relationships" id="263" r:id="R9f9abb8af5c34f20"/>
    <p:sldId xmlns:r="http://schemas.openxmlformats.org/officeDocument/2006/relationships" id="264" r:id="Re11ee24f50d64c0b"/>
    <p:sldId xmlns:r="http://schemas.openxmlformats.org/officeDocument/2006/relationships" id="265" r:id="Rd1aa8bd6c2a64678"/>
    <p:sldId xmlns:r="http://schemas.openxmlformats.org/officeDocument/2006/relationships" id="266" r:id="R6aa291a81e3744e9"/>
    <p:sldId xmlns:r="http://schemas.openxmlformats.org/officeDocument/2006/relationships" id="267" r:id="R7b64e659ec1140ae"/>
    <p:sldId xmlns:r="http://schemas.openxmlformats.org/officeDocument/2006/relationships" id="268" r:id="R4a4deb682cb246db"/>
    <p:sldId xmlns:r="http://schemas.openxmlformats.org/officeDocument/2006/relationships" id="269" r:id="Rfaf7763dbf8447c5"/>
    <p:sldId xmlns:r="http://schemas.openxmlformats.org/officeDocument/2006/relationships" id="270" r:id="R2d9f244fab9e486e"/>
    <p:sldId xmlns:r="http://schemas.openxmlformats.org/officeDocument/2006/relationships" id="271" r:id="R5ea5ae9cb14d488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4436c7a1df04e88" /><Relationship Type="http://schemas.openxmlformats.org/officeDocument/2006/relationships/slideMaster" Target="/ppt/slideMasters/slideMaster1.xml" Id="Rb9bd6fa5de714a96" /><Relationship Type="http://schemas.openxmlformats.org/officeDocument/2006/relationships/notesMaster" Target="/ppt/notesMasters/notesMaster1.xml" Id="Raef0330bfa1041d9" /><Relationship Type="http://schemas.openxmlformats.org/officeDocument/2006/relationships/presProps" Target="/ppt/presProps.xml" Id="Rb86ede4000b4484a" /><Relationship Type="http://schemas.openxmlformats.org/officeDocument/2006/relationships/tableStyles" Target="/ppt/tableStyles.xml" Id="Rc43c99e27a5f4388" /><Relationship Type="http://schemas.openxmlformats.org/officeDocument/2006/relationships/slide" Target="/ppt/slides/slide1.xml" Id="R1e981ee711ca4f95" /><Relationship Type="http://schemas.openxmlformats.org/officeDocument/2006/relationships/slide" Target="/ppt/slides/slide2.xml" Id="R58e646b54571408e" /><Relationship Type="http://schemas.openxmlformats.org/officeDocument/2006/relationships/slide" Target="/ppt/slides/slide3.xml" Id="R3fb36bfca6c94f75" /><Relationship Type="http://schemas.openxmlformats.org/officeDocument/2006/relationships/slide" Target="/ppt/slides/slide4.xml" Id="R4972f248d52d4833" /><Relationship Type="http://schemas.openxmlformats.org/officeDocument/2006/relationships/slide" Target="/ppt/slides/slide5.xml" Id="Ra5098ecbf1ef4b64" /><Relationship Type="http://schemas.openxmlformats.org/officeDocument/2006/relationships/slide" Target="/ppt/slides/slide6.xml" Id="R9e16cdf5bc9f4110" /><Relationship Type="http://schemas.openxmlformats.org/officeDocument/2006/relationships/slide" Target="/ppt/slides/slide7.xml" Id="Rc47a7f27047f4cb1" /><Relationship Type="http://schemas.openxmlformats.org/officeDocument/2006/relationships/slide" Target="/ppt/slides/slide8.xml" Id="R9f9abb8af5c34f20" /><Relationship Type="http://schemas.openxmlformats.org/officeDocument/2006/relationships/slide" Target="/ppt/slides/slide9.xml" Id="Re11ee24f50d64c0b" /><Relationship Type="http://schemas.openxmlformats.org/officeDocument/2006/relationships/slide" Target="/ppt/slides/slide10.xml" Id="Rd1aa8bd6c2a64678" /><Relationship Type="http://schemas.openxmlformats.org/officeDocument/2006/relationships/slide" Target="/ppt/slides/slide11.xml" Id="R6aa291a81e3744e9" /><Relationship Type="http://schemas.openxmlformats.org/officeDocument/2006/relationships/slide" Target="/ppt/slides/slide12.xml" Id="R7b64e659ec1140ae" /><Relationship Type="http://schemas.openxmlformats.org/officeDocument/2006/relationships/slide" Target="/ppt/slides/slide13.xml" Id="R4a4deb682cb246db" /><Relationship Type="http://schemas.openxmlformats.org/officeDocument/2006/relationships/slide" Target="/ppt/slides/slide14.xml" Id="Rfaf7763dbf8447c5" /><Relationship Type="http://schemas.openxmlformats.org/officeDocument/2006/relationships/slide" Target="/ppt/slides/slide15.xml" Id="R2d9f244fab9e486e" /><Relationship Type="http://schemas.openxmlformats.org/officeDocument/2006/relationships/slide" Target="/ppt/slides/slide16.xml" Id="R5ea5ae9cb14d488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a97ebc176524cd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0b7509efeda4ecb" /><Relationship Type="http://schemas.openxmlformats.org/officeDocument/2006/relationships/notesMaster" Target="/ppt/notesMasters/notesMaster1.xml" Id="Rd794f6f3a089489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f4ed89fb17a481a" /><Relationship Type="http://schemas.openxmlformats.org/officeDocument/2006/relationships/notesMaster" Target="/ppt/notesMasters/notesMaster1.xml" Id="R63e05c08f1af435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de2c9925d214efe" /><Relationship Type="http://schemas.openxmlformats.org/officeDocument/2006/relationships/notesMaster" Target="/ppt/notesMasters/notesMaster1.xml" Id="R128fb8fa4e4d4b9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ff2c82ed0de4560" /><Relationship Type="http://schemas.openxmlformats.org/officeDocument/2006/relationships/notesMaster" Target="/ppt/notesMasters/notesMaster1.xml" Id="Rd9d3dfa4f796470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eff319e8d1d4fe3" /><Relationship Type="http://schemas.openxmlformats.org/officeDocument/2006/relationships/notesMaster" Target="/ppt/notesMasters/notesMaster1.xml" Id="R38579e514c904a1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e91dc58d7cd4366" /><Relationship Type="http://schemas.openxmlformats.org/officeDocument/2006/relationships/notesMaster" Target="/ppt/notesMasters/notesMaster1.xml" Id="Rbcd182e527684fa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3f9931a38cb4eab" /><Relationship Type="http://schemas.openxmlformats.org/officeDocument/2006/relationships/notesMaster" Target="/ppt/notesMasters/notesMaster1.xml" Id="R1094b545e628475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3e554e52b834eaa" /><Relationship Type="http://schemas.openxmlformats.org/officeDocument/2006/relationships/notesMaster" Target="/ppt/notesMasters/notesMaster1.xml" Id="R5f55d036ce05462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eddb01634c146ec" /><Relationship Type="http://schemas.openxmlformats.org/officeDocument/2006/relationships/notesMaster" Target="/ppt/notesMasters/notesMaster1.xml" Id="R1a783bee524f4a6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46b26bb9fc645e7" /><Relationship Type="http://schemas.openxmlformats.org/officeDocument/2006/relationships/notesMaster" Target="/ppt/notesMasters/notesMaster1.xml" Id="Rc65da04f225447e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4f7a4672d724e71" /><Relationship Type="http://schemas.openxmlformats.org/officeDocument/2006/relationships/notesMaster" Target="/ppt/notesMasters/notesMaster1.xml" Id="Rdedebc12372d408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ac8fc1a0f9146a8" /><Relationship Type="http://schemas.openxmlformats.org/officeDocument/2006/relationships/notesMaster" Target="/ppt/notesMasters/notesMaster1.xml" Id="R10792a9c8bfe43a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9f6e5f3bcea4c7d" /><Relationship Type="http://schemas.openxmlformats.org/officeDocument/2006/relationships/notesMaster" Target="/ppt/notesMasters/notesMaster1.xml" Id="R9d11c46fa075464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f5c1b3b0b734ab2" /><Relationship Type="http://schemas.openxmlformats.org/officeDocument/2006/relationships/notesMaster" Target="/ppt/notesMasters/notesMaster1.xml" Id="R72ebe527560b486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bec2c601521489c" /><Relationship Type="http://schemas.openxmlformats.org/officeDocument/2006/relationships/notesMaster" Target="/ppt/notesMasters/notesMaster1.xml" Id="R3dc1f6661f574a6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633f59078d5490e" /><Relationship Type="http://schemas.openxmlformats.org/officeDocument/2006/relationships/notesMaster" Target="/ppt/notesMasters/notesMaster1.xml" Id="R73c3e59b2e8d487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PARA(1).docx, documento proporcionado por el equipo. Las capturas y los enlaces provienen del archivo original.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PARA(1).docx, documento proporcionado por el equipo. Las capturas y los enlaces provienen del archivo original.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PARA(1).docx, documento proporcionado por el equipo. Las capturas y los enlaces provienen del archivo original.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PARA(1).docx, documento proporcionado por el equipo. Las capturas y los enlaces provienen del archivo original.</a:t>
            </a:r>
          </a:p>
          <a:p xmlns:a="http://schemas.openxmlformats.org/drawingml/2006/main">
            <a:r>
              <a:t>La redacción consolidada del documento indica 88%, mientras la matriz indica más de 88,9%. El periodo SMART comienza el 09/09/2026, pero el cronograma comienza el 01/09/2026. Son metas y propuestas, no resultados verificados.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PARA(1).docx, documento proporcionado por el equipo. Las capturas y los enlaces provienen del archivo original.</a:t>
            </a:r>
          </a:p>
          <a:p xmlns:a="http://schemas.openxmlformats.org/drawingml/2006/main">
            <a:r>
              <a:t>Abrir el espacio de trabajo en Notion: https://app.notion.com/p/P-A-R-A-Sistema-de-Pedidos-y-Reservas-para-Canchas-Don-Pepito-NRC-36839-G-7-3f377893234e803e90d8e03349208fa9?source=copy_link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PARA(1).docx, documento proporcionado por el equipo. Las capturas y los enlaces provienen del archivo original.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PARA(1).docx, documento proporcionado por el equipo. Las capturas y los enlaces provienen del archivo original.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PARA(1).docx, documento proporcionado por el equipo. Las capturas y los enlaces provienen del archivo original.</a:t>
            </a:r>
          </a:p>
          <a:p xmlns:a="http://schemas.openxmlformats.org/drawingml/2006/main">
            <a:r>
              <a:t>Abrir NotebookLM: Diseño: https://notebook.google.com/notebook/9969c723-420b-440e-a0e2-dfb2e1096457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PARA(1).docx, documento proporcionado por el equipo. Las capturas y los enlaces provienen del archivo original.</a:t>
            </a:r>
          </a:p>
          <a:p xmlns:a="http://schemas.openxmlformats.org/drawingml/2006/main">
            <a:r>
              <a:t>Abrir NotebookLM: Análisis: https://notebook.google.com/notebook/fce82eef-b846-4fe4-8b97-962ab2f38d1c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PARA(1).docx, documento proporcionado por el equipo. Las capturas y los enlaces provienen del archivo original.</a:t>
            </a:r>
          </a:p>
          <a:p xmlns:a="http://schemas.openxmlformats.org/drawingml/2006/main">
            <a:r>
              <a:t>Abrir tutor académico / agente SCRUM: https://share.gemini.google/EN0VhpirB97e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PARA(1).docx, documento proporcionado por el equipo. Las capturas y los enlaces provienen del archivo original.</a:t>
            </a:r>
          </a:p>
          <a:p xmlns:a="http://schemas.openxmlformats.org/drawingml/2006/main">
            <a:r>
              <a:t>Abrir la ruleta gamificada de roles SCRUM: https://share.gemini.google/rOh6ngZxY9Rp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PARA(1).docx, documento proporcionado por el equipo. Las capturas y los enlaces provienen del archivo original.</a:t>
            </a:r>
          </a:p>
          <a:p xmlns:a="http://schemas.openxmlformats.org/drawingml/2006/main">
            <a:r>
              <a:t>Abrir el prototipo de Canchas Don Pepito: https://canchas-donpepito.vercel.app/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PARA(1).docx, documento proporcionado por el equipo. Las capturas y los enlaces provienen del archivo original.</a:t>
            </a:r>
          </a:p>
          <a:p xmlns:a="http://schemas.openxmlformats.org/drawingml/2006/main">
            <a:r>
              <a:t>Abrir carpeta de assets y logo en Google Drive: https://drive.google.com/drive/folders/18jjcUSBkZ41RtPgswShYJkerh7th2AsP?usp=drive_link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PARA(1).docx, documento proporcionado por el equipo. Las capturas y los enlaces provienen del archivo original.</a:t>
            </a:r>
          </a:p>
          <a:p xmlns:a="http://schemas.openxmlformats.org/drawingml/2006/main">
            <a:r>
              <a:t>NotebookLM · Diseño: https://notebook.google.com/notebook/9969c723-420b-440e-a0e2-dfb2e1096457</a:t>
            </a:r>
          </a:p>
          <a:p xmlns:a="http://schemas.openxmlformats.org/drawingml/2006/main">
            <a:r>
              <a:t>NotebookLM · Análisis: https://notebook.google.com/notebook/fce82eef-b846-4fe4-8b97-962ab2f38d1c</a:t>
            </a:r>
          </a:p>
          <a:p xmlns:a="http://schemas.openxmlformats.org/drawingml/2006/main">
            <a:r>
              <a:t>Gemini · Tutor académico / SCRUM: https://share.gemini.google/EN0VhpirB97e</a:t>
            </a:r>
          </a:p>
          <a:p xmlns:a="http://schemas.openxmlformats.org/drawingml/2006/main">
            <a:r>
              <a:t>Gemini · Ruleta de roles SCRUM: https://share.gemini.google/rOh6ngZxY9Rp</a:t>
            </a:r>
          </a:p>
          <a:p xmlns:a="http://schemas.openxmlformats.org/drawingml/2006/main">
            <a:r>
              <a:t>Vercel · Prototipo de usabilidad: https://canchas-donpepito.vercel.app/</a:t>
            </a:r>
          </a:p>
          <a:p xmlns:a="http://schemas.openxmlformats.org/drawingml/2006/main">
            <a:r>
              <a:t>Google Drive · Assets y logo: https://drive.google.com/drive/folders/18jjcUSBkZ41RtPgswShYJkerh7th2AsP?usp=drive_link</a:t>
            </a:r>
          </a:p>
          <a:p xmlns:a="http://schemas.openxmlformats.org/drawingml/2006/main">
            <a:r>
              <a:t>Notion · Espacio de trabajo: https://app.notion.com/p/P-A-R-A-Sistema-de-Pedidos-y-Reservas-para-Canchas-Don-Pepito-NRC-36839-G-7-3f377893234e803e90d8e03349208fa9?source=copy_link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PARA(1).docx, documento proporcionado por el equipo. Las capturas y los enlaces provienen del archivo original.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PARA(1).docx, documento proporcionado por el equipo. Las capturas y los enlaces provienen del archivo original.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7beff6e476349e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c5ca1923344d0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e857658646e420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3e5d5e3d32401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abcf340762470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6f2986d37f48e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AFB2699-38D4-4C8F-9B47-49C360823AA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5843A04-1E76-4DEF-B999-B69D385BB56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ABADCF1-30F0-4AFD-BC51-834283638A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462A2D0-A29F-4064-BF71-C555B2F16FD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2153306-45D4-4107-A303-A5D419B3BDD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B8DA329-E1E0-4DE3-AB26-55802F721C7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1C47EB1-DDA0-4D8A-90CC-EBDDD95FF28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9B1A1B0-C279-429F-A794-110213E34A5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59270F7-85AF-46B4-9F13-E41F76E0D65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C79C355-3361-46CF-8494-373B1296E57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e40387f3b4841d6" /><Relationship Type="http://schemas.openxmlformats.org/officeDocument/2006/relationships/slideLayout" Target="/ppt/slideLayouts/slideLayout1.xml" Id="Rf80018182b0f4060" /><Relationship Type="http://schemas.openxmlformats.org/officeDocument/2006/relationships/slideLayout" Target="/ppt/slideLayouts/slideLayout2.xml" Id="Re24419923e5c4b2d" /><Relationship Type="http://schemas.openxmlformats.org/officeDocument/2006/relationships/slideLayout" Target="/ppt/slideLayouts/slideLayout3.xml" Id="R212c8fb1cd094181" /><Relationship Type="http://schemas.openxmlformats.org/officeDocument/2006/relationships/slideLayout" Target="/ppt/slideLayouts/slideLayout4.xml" Id="R935f5470e5284bf1" /><Relationship Type="http://schemas.openxmlformats.org/officeDocument/2006/relationships/slideLayout" Target="/ppt/slideLayouts/slideLayout5.xml" Id="Raa830e7f2f8642cf" /><Relationship Type="http://schemas.openxmlformats.org/officeDocument/2006/relationships/slideLayout" Target="/ppt/slideLayouts/slideLayout6.xml" Id="R9217a2376384491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80018182b0f4060"/>
    <p:sldLayoutId xmlns:r="http://schemas.openxmlformats.org/officeDocument/2006/relationships" id="2147483650" r:id="Re24419923e5c4b2d"/>
    <p:sldLayoutId xmlns:r="http://schemas.openxmlformats.org/officeDocument/2006/relationships" id="2147483651" r:id="R212c8fb1cd094181"/>
    <p:sldLayoutId xmlns:r="http://schemas.openxmlformats.org/officeDocument/2006/relationships" id="2147483652" r:id="R935f5470e5284bf1"/>
    <p:sldLayoutId xmlns:r="http://schemas.openxmlformats.org/officeDocument/2006/relationships" id="2147483653" r:id="Raa830e7f2f8642cf"/>
    <p:sldLayoutId xmlns:r="http://schemas.openxmlformats.org/officeDocument/2006/relationships" id="2147483654" r:id="R9217a2376384491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a53f0424b4f487a" /><Relationship Type="http://schemas.openxmlformats.org/officeDocument/2006/relationships/image" Target="/ppt/media/image.jpeg" Id="R554a84002a6343e7" /><Relationship Type="http://schemas.openxmlformats.org/officeDocument/2006/relationships/notesSlide" Target="/ppt/notesSlides/notesSlide1.xml" Id="Rcfc63345961747a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b5f8fc0c89e4209" /><Relationship Type="http://schemas.openxmlformats.org/officeDocument/2006/relationships/notesSlide" Target="/ppt/notesSlides/notesSlide2.xml" Id="R0d682cafd3ee471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75a80ef49344adb" /><Relationship Type="http://schemas.openxmlformats.org/officeDocument/2006/relationships/notesSlide" Target="/ppt/notesSlides/notesSlide3.xml" Id="R78d2e5973159444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7771210a3db4df7" /><Relationship Type="http://schemas.openxmlformats.org/officeDocument/2006/relationships/notesSlide" Target="/ppt/notesSlides/notesSlide4.xml" Id="Rb453f85cb936469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45dbea991824b9a" /><Relationship Type="http://schemas.openxmlformats.org/officeDocument/2006/relationships/image" Target="/ppt/media/image.png" Id="R1f6c75f55957419c" /><Relationship Type="http://schemas.openxmlformats.org/officeDocument/2006/relationships/hyperlink" Target="https://app.notion.com/p/P-A-R-A-Sistema-de-Pedidos-y-Reservas-para-Canchas-Don-Pepito-NRC-36839-G-7-3f377893234e803e90d8e03349208fa9?source=copy_link" TargetMode="External" Id="R7397383d232a4477" /><Relationship Type="http://schemas.openxmlformats.org/officeDocument/2006/relationships/notesSlide" Target="/ppt/notesSlides/notesSlide5.xml" Id="Rc98f2298cbbc457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3e7364b10ae493e" /><Relationship Type="http://schemas.openxmlformats.org/officeDocument/2006/relationships/notesSlide" Target="/ppt/notesSlides/notesSlide6.xml" Id="R6bf4fbac45594b0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ef0bedbb6eb42c4" /><Relationship Type="http://schemas.openxmlformats.org/officeDocument/2006/relationships/notesSlide" Target="/ppt/notesSlides/notesSlide7.xml" Id="Rfbe122c196c542e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e09023b49d54c22" /><Relationship Type="http://schemas.openxmlformats.org/officeDocument/2006/relationships/image" Target="/ppt/media/image2.png" Id="R4e39460a9ca74d52" /><Relationship Type="http://schemas.openxmlformats.org/officeDocument/2006/relationships/hyperlink" Target="https://notebook.google.com/notebook/9969c723-420b-440e-a0e2-dfb2e1096457" TargetMode="External" Id="Rd897233b8536425e" /><Relationship Type="http://schemas.openxmlformats.org/officeDocument/2006/relationships/notesSlide" Target="/ppt/notesSlides/notesSlide8.xml" Id="R780448f7ed6e40a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0b6b376ea374faf" /><Relationship Type="http://schemas.openxmlformats.org/officeDocument/2006/relationships/image" Target="/ppt/media/image3.png" Id="R61d761caa6f047d2" /><Relationship Type="http://schemas.openxmlformats.org/officeDocument/2006/relationships/hyperlink" Target="https://notebook.google.com/notebook/fce82eef-b846-4fe4-8b97-962ab2f38d1c" TargetMode="External" Id="Rfabf89a73ccf4703" /><Relationship Type="http://schemas.openxmlformats.org/officeDocument/2006/relationships/notesSlide" Target="/ppt/notesSlides/notesSlide9.xml" Id="R36d322e355164ec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4c7888ba91243a7" /><Relationship Type="http://schemas.openxmlformats.org/officeDocument/2006/relationships/image" Target="/ppt/media/image4.png" Id="R82424bb062ea433b" /><Relationship Type="http://schemas.openxmlformats.org/officeDocument/2006/relationships/hyperlink" Target="https://share.gemini.google/EN0VhpirB97e" TargetMode="External" Id="R6a38f17fa36a4bc0" /><Relationship Type="http://schemas.openxmlformats.org/officeDocument/2006/relationships/notesSlide" Target="/ppt/notesSlides/notesSlide10.xml" Id="Rb6407e61030a470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ff4d2c7a9c0446c" /><Relationship Type="http://schemas.openxmlformats.org/officeDocument/2006/relationships/image" Target="/ppt/media/image5.png" Id="R90fff3678eb34070" /><Relationship Type="http://schemas.openxmlformats.org/officeDocument/2006/relationships/image" Target="/ppt/media/image6.png" Id="R9e74853e9e6b443d" /><Relationship Type="http://schemas.openxmlformats.org/officeDocument/2006/relationships/hyperlink" Target="https://share.gemini.google/rOh6ngZxY9Rp" TargetMode="External" Id="R92ef456caa7c4d77" /><Relationship Type="http://schemas.openxmlformats.org/officeDocument/2006/relationships/notesSlide" Target="/ppt/notesSlides/notesSlide11.xml" Id="Rc87570f7b0a241e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229ad4ad45740c9" /><Relationship Type="http://schemas.openxmlformats.org/officeDocument/2006/relationships/image" Target="/ppt/media/image7.png" Id="R65eeaa64208e405b" /><Relationship Type="http://schemas.openxmlformats.org/officeDocument/2006/relationships/hyperlink" Target="https://canchas-donpepito.vercel.app/" TargetMode="External" Id="R0ec3da245dd640b7" /><Relationship Type="http://schemas.openxmlformats.org/officeDocument/2006/relationships/notesSlide" Target="/ppt/notesSlides/notesSlide12.xml" Id="Rd41baca78d49464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1ad94fddc794166" /><Relationship Type="http://schemas.openxmlformats.org/officeDocument/2006/relationships/image" Target="/ppt/media/image2.jpeg" Id="Ra6b6a0b5b6774e03" /><Relationship Type="http://schemas.openxmlformats.org/officeDocument/2006/relationships/hyperlink" Target="https://drive.google.com/drive/folders/18jjcUSBkZ41RtPgswShYJkerh7th2AsP?usp=drive_link" TargetMode="External" Id="R1fee9a07aea14812" /><Relationship Type="http://schemas.openxmlformats.org/officeDocument/2006/relationships/notesSlide" Target="/ppt/notesSlides/notesSlide13.xml" Id="R9fb4a7e283874c6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d4e7fbf4cd7437b" /><Relationship Type="http://schemas.openxmlformats.org/officeDocument/2006/relationships/hyperlink" Target="https://notebook.google.com/notebook/9969c723-420b-440e-a0e2-dfb2e1096457" TargetMode="External" Id="Raf9a599b585e4040" /><Relationship Type="http://schemas.openxmlformats.org/officeDocument/2006/relationships/hyperlink" Target="https://notebook.google.com/notebook/fce82eef-b846-4fe4-8b97-962ab2f38d1c" TargetMode="External" Id="R1d970abfd39e4e43" /><Relationship Type="http://schemas.openxmlformats.org/officeDocument/2006/relationships/hyperlink" Target="https://share.gemini.google/EN0VhpirB97e" TargetMode="External" Id="R26e6481dedba488d" /><Relationship Type="http://schemas.openxmlformats.org/officeDocument/2006/relationships/hyperlink" Target="https://share.gemini.google/rOh6ngZxY9Rp" TargetMode="External" Id="R201f5e68f7384994" /><Relationship Type="http://schemas.openxmlformats.org/officeDocument/2006/relationships/hyperlink" Target="https://canchas-donpepito.vercel.app/" TargetMode="External" Id="Rf30236efa7e148e7" /><Relationship Type="http://schemas.openxmlformats.org/officeDocument/2006/relationships/hyperlink" Target="https://drive.google.com/drive/folders/18jjcUSBkZ41RtPgswShYJkerh7th2AsP?usp=drive_link" TargetMode="External" Id="Rf4c7d7af651642e6" /><Relationship Type="http://schemas.openxmlformats.org/officeDocument/2006/relationships/hyperlink" Target="https://app.notion.com/p/P-A-R-A-Sistema-de-Pedidos-y-Reservas-para-Canchas-Don-Pepito-NRC-36839-G-7-3f377893234e803e90d8e03349208fa9?source=copy_link" TargetMode="External" Id="R82dc05e937d641a0" /><Relationship Type="http://schemas.openxmlformats.org/officeDocument/2006/relationships/notesSlide" Target="/ppt/notesSlides/notesSlide14.xml" Id="R1d443bf5d133409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cc56975fc3c4912" /><Relationship Type="http://schemas.openxmlformats.org/officeDocument/2006/relationships/notesSlide" Target="/ppt/notesSlides/notesSlide15.xml" Id="Rdce8daffad7d44e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e3647d2ae66461e" /><Relationship Type="http://schemas.openxmlformats.org/officeDocument/2006/relationships/notesSlide" Target="/ppt/notesSlides/notesSlide16.xml" Id="R30b97ad743e340c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BB3AAF-97C5-46D2-AC5A-8381F6322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150" b="1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150" b="1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150" b="1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150" b="1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150" b="1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150" b="1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150" b="1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150" b="1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150" b="1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42D29"/>
                </a:solidFill>
                <a:latin typeface="DejaVu Sans"/>
                <a:ea typeface="DejaVu Sans"/>
                <a:cs typeface="DejaVu Sans"/>
              </a:rPr>
              <a:t>Sistema de Pedidos y Reservas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ED6DC7-D4C1-4FF2-BE59-234C704A8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3B1967-AA65-4A90-B185-A185EEE48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704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4500" b="1">
                <a:solidFill>
                  <a:srgbClr val="16745A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4500" b="1">
                <a:solidFill>
                  <a:srgbClr val="16745A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4500" b="1">
                <a:solidFill>
                  <a:srgbClr val="16745A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4500" b="1">
                <a:solidFill>
                  <a:srgbClr val="16745A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4500" b="1">
                <a:solidFill>
                  <a:srgbClr val="16745A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4500" b="1">
                <a:solidFill>
                  <a:srgbClr val="16745A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4500" b="1">
                <a:solidFill>
                  <a:srgbClr val="16745A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4500" b="1">
                <a:solidFill>
                  <a:srgbClr val="16745A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4500" b="1">
                <a:solidFill>
                  <a:srgbClr val="16745A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4500" b="1">
                <a:solidFill>
                  <a:srgbClr val="16745A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4500" b="1">
                <a:solidFill>
                  <a:srgbClr val="16745A"/>
                </a:solidFill>
                <a:latin typeface="DejaVu Sans"/>
                <a:ea typeface="DejaVu Sans"/>
                <a:cs typeface="DejaVu Sans"/>
              </a:defRPr>
            </a:pPr>
            <a:r>
              <a:rPr sz="4500" b="1">
                <a:solidFill>
                  <a:srgbClr val="16745A"/>
                </a:solidFill>
                <a:latin typeface="DejaVu Sans"/>
                <a:ea typeface="DejaVu Sans"/>
                <a:cs typeface="DejaVu Sans"/>
              </a:rPr>
              <a:t>Canchas Don Pepito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E00EF2-AD0C-41C4-A720-CFDC5CE8C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685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0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325" b="0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325" b="0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325" b="0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325" b="0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325" b="0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325" b="0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325" b="0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325" b="0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325" b="0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142D29"/>
                </a:solidFill>
                <a:latin typeface="DejaVu Sans"/>
                <a:ea typeface="DejaVu Sans"/>
                <a:cs typeface="DejaVu Sans"/>
              </a:rPr>
              <a:t>SPR con módulo de Gestión de Ingresos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CF9CB8-CA30-4B65-BD2A-7B56E95B6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0"/>
            <a:ext cx="723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9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9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9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9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9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9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9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9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9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52645F"/>
                </a:solidFill>
                <a:latin typeface="DejaVu Sans"/>
                <a:ea typeface="DejaVu Sans"/>
                <a:cs typeface="DejaVu Sans"/>
              </a:rPr>
              <a:t>Grupo #7 · NRC 36839</a:t>
            </a:r>
          </a:p>
          <a:p xmlns:a="http://schemas.openxmlformats.org/drawingml/2006/main">
            <a:pPr>
              <a:defRPr sz="19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52645F"/>
                </a:solidFill>
                <a:latin typeface="DejaVu Sans"/>
                <a:ea typeface="DejaVu Sans"/>
                <a:cs typeface="DejaVu Sans"/>
              </a:rPr>
              <a:t>28 de octubre de 2026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3ED25C-4DA3-42B6-9045-EDEFD80458B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4a84002a6343e7"/>
          <a:stretch xmlns:a="http://schemas.openxmlformats.org/drawingml/2006/main"/>
        </p:blipFill>
        <p:spPr>
          <a:xfrm xmlns:a="http://schemas.openxmlformats.org/drawingml/2006/main">
            <a:off x="8096250" y="1619250"/>
            <a:ext cx="3333750" cy="3333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851523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753506-35B6-4482-8AEE-51A2AC0B3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150" b="1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150" b="1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150" b="1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150" b="1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150" b="1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150" b="1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150" b="1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150" b="1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150" b="1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42D29"/>
                </a:solidFill>
                <a:latin typeface="DejaVu Sans"/>
                <a:ea typeface="DejaVu Sans"/>
                <a:cs typeface="DejaVu Sans"/>
              </a:rPr>
              <a:t>Asignatura e integrantes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45E6BB-77EB-437F-927F-BEE6BD4EE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70A41B-31D3-4109-B811-99EFD8C5E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97280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0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250" b="0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250" b="0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250" b="0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250" b="0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250" b="0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250" b="0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250" b="0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250" b="0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250" b="0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42D29"/>
                </a:solidFill>
                <a:latin typeface="DejaVu Sans"/>
                <a:ea typeface="DejaVu Sans"/>
                <a:cs typeface="DejaVu Sans"/>
              </a:rPr>
              <a:t>Metodologías de Desarrollo de Software (MDSW)</a:t>
            </a:r>
          </a:p>
          <a:p xmlns:a="http://schemas.openxmlformats.org/drawingml/2006/main">
            <a:pPr>
              <a:defRPr sz="2250" b="0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42D29"/>
                </a:solidFill>
                <a:latin typeface="DejaVu Sans"/>
                <a:ea typeface="DejaVu Sans"/>
                <a:cs typeface="DejaVu Sans"/>
              </a:rPr>
              <a:t>Ingeniería de Requisitos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42D29"/>
                </a:solidFill>
                <a:latin typeface="DejaVu Sans"/>
                <a:ea typeface="DejaVu Sans"/>
                <a:cs typeface="DejaVu Sans"/>
              </a:rPr>
              <a:t>Docente: Ing. Mónica Gómez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42D29"/>
                </a:solidFill>
                <a:latin typeface="DejaVu Sans"/>
                <a:ea typeface="DejaVu Sans"/>
                <a:cs typeface="DejaVu Sans"/>
              </a:rPr>
              <a:t>Bryan Rosero</a:t>
            </a:r>
          </a:p>
          <a:p xmlns:a="http://schemas.openxmlformats.org/drawingml/2006/main">
            <a:pPr>
              <a:defRPr sz="2250" b="0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42D29"/>
                </a:solidFill>
                <a:latin typeface="DejaVu Sans"/>
                <a:ea typeface="DejaVu Sans"/>
                <a:cs typeface="DejaVu Sans"/>
              </a:rPr>
              <a:t>Benjamín Robalino</a:t>
            </a:r>
          </a:p>
          <a:p xmlns:a="http://schemas.openxmlformats.org/drawingml/2006/main">
            <a:pPr>
              <a:defRPr sz="2250" b="0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42D29"/>
                </a:solidFill>
                <a:latin typeface="DejaVu Sans"/>
                <a:ea typeface="DejaVu Sans"/>
                <a:cs typeface="DejaVu Sans"/>
              </a:rPr>
              <a:t>Victoria Díaz</a:t>
            </a:r>
          </a:p>
        </p:txBody>
      </p:sp>
    </p:spTree>
    <p:extLst>
      <p:ext uri="{BB962C8B-B14F-4D97-AF65-F5344CB8AC3E}">
        <p14:creationId xmlns:p14="http://schemas.microsoft.com/office/powerpoint/2010/main" val="43484354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023328-0914-4582-B904-843E8E5A0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150" b="1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150" b="1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150" b="1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150" b="1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150" b="1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150" b="1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150" b="1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150" b="1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150" b="1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42D29"/>
                </a:solidFill>
                <a:latin typeface="DejaVu Sans"/>
                <a:ea typeface="DejaVu Sans"/>
                <a:cs typeface="DejaVu Sans"/>
              </a:rPr>
              <a:t>Alcance del proyecto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95345F-403E-4FF6-94DB-8837F6709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806FE4-1D8A-4ED6-822B-85E4057F3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97280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75" b="0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75" b="0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75" b="0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75" b="0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75" b="0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75" b="0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75" b="0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75" b="0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75" b="0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42D29"/>
                </a:solidFill>
                <a:latin typeface="DejaVu Sans"/>
                <a:ea typeface="DejaVu Sans"/>
                <a:cs typeface="DejaVu Sans"/>
              </a:rPr>
              <a:t>Reservas de canchas</a:t>
            </a:r>
          </a:p>
          <a:p xmlns:a="http://schemas.openxmlformats.org/drawingml/2006/main">
            <a:pPr>
              <a:defRPr sz="2175" b="0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42D29"/>
                </a:solidFill>
                <a:latin typeface="DejaVu Sans"/>
                <a:ea typeface="DejaVu Sans"/>
                <a:cs typeface="DejaVu Sans"/>
              </a:rPr>
              <a:t>Consulta y organización de los espacios deportivos.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42D29"/>
                </a:solidFill>
                <a:latin typeface="DejaVu Sans"/>
                <a:ea typeface="DejaVu Sans"/>
                <a:cs typeface="DejaVu Sans"/>
              </a:rPr>
              <a:t>Pedidos desde las gradas</a:t>
            </a:r>
          </a:p>
          <a:p xmlns:a="http://schemas.openxmlformats.org/drawingml/2006/main">
            <a:pPr>
              <a:defRPr sz="2175" b="0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42D29"/>
                </a:solidFill>
                <a:latin typeface="DejaVu Sans"/>
                <a:ea typeface="DejaVu Sans"/>
                <a:cs typeface="DejaVu Sans"/>
              </a:rPr>
              <a:t>Ubicación mediante GPS o sectorización para la entrega.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42D29"/>
                </a:solidFill>
                <a:latin typeface="DejaVu Sans"/>
                <a:ea typeface="DejaVu Sans"/>
                <a:cs typeface="DejaVu Sans"/>
              </a:rPr>
              <a:t>Gestión de Ingresos (GI)</a:t>
            </a:r>
          </a:p>
          <a:p xmlns:a="http://schemas.openxmlformats.org/drawingml/2006/main">
            <a:pPr>
              <a:defRPr sz="2175" b="0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42D29"/>
                </a:solidFill>
                <a:latin typeface="DejaVu Sans"/>
                <a:ea typeface="DejaVu Sans"/>
                <a:cs typeface="DejaVu Sans"/>
              </a:rPr>
              <a:t>Cobros en efectivo y transferencias, devoluciones y auditoría.</a:t>
            </a:r>
          </a:p>
        </p:txBody>
      </p:sp>
    </p:spTree>
    <p:extLst>
      <p:ext uri="{BB962C8B-B14F-4D97-AF65-F5344CB8AC3E}">
        <p14:creationId xmlns:p14="http://schemas.microsoft.com/office/powerpoint/2010/main" val="136073172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908C1D-6F40-41E7-90AF-2D49B1623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150" b="1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150" b="1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150" b="1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150" b="1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150" b="1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150" b="1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150" b="1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150" b="1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150" b="1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42D29"/>
                </a:solidFill>
                <a:latin typeface="DejaVu Sans"/>
                <a:ea typeface="DejaVu Sans"/>
                <a:cs typeface="DejaVu Sans"/>
              </a:rPr>
              <a:t>Objetivos SMART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943836-52D5-46EB-8631-285F06BC0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0B9202-92C8-43EC-827E-A8F147A49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950" b="0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950" b="0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950" b="0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950" b="0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950" b="0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950" b="0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950" b="0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950" b="0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950" b="0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42D29"/>
                </a:solidFill>
                <a:latin typeface="DejaVu Sans"/>
                <a:ea typeface="DejaVu Sans"/>
                <a:cs typeface="DejaVu Sans"/>
              </a:rPr>
              <a:t>S   Implementar SPR integrado con Gestión de Ingresos.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42D29"/>
                </a:solidFill>
                <a:latin typeface="DejaVu Sans"/>
                <a:ea typeface="DejaVu Sans"/>
                <a:cs typeface="DejaVu Sans"/>
              </a:rPr>
              <a:t>M   Adopción superior al 88,9%, consultas en ≤ 3 segundos</a:t>
            </a:r>
          </a:p>
          <a:p xmlns:a="http://schemas.openxmlformats.org/drawingml/2006/main">
            <a:pPr>
              <a:defRPr sz="1950" b="0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42D29"/>
                </a:solidFill>
                <a:latin typeface="DejaVu Sans"/>
                <a:ea typeface="DejaVu Sans"/>
                <a:cs typeface="DejaVu Sans"/>
              </a:rPr>
              <a:t>      y entregas en ≤ 10 minutos en al menos el 93% de pedidos.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42D29"/>
                </a:solidFill>
                <a:latin typeface="DejaVu Sans"/>
                <a:ea typeface="DejaVu Sans"/>
                <a:cs typeface="DejaVu Sans"/>
              </a:rPr>
              <a:t>A   Web móvil en Android (Chrome 115+), integración propuesta</a:t>
            </a:r>
          </a:p>
          <a:p xmlns:a="http://schemas.openxmlformats.org/drawingml/2006/main">
            <a:pPr>
              <a:defRPr sz="1950" b="0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42D29"/>
                </a:solidFill>
                <a:latin typeface="DejaVu Sans"/>
                <a:ea typeface="DejaVu Sans"/>
                <a:cs typeface="DejaVu Sans"/>
              </a:rPr>
              <a:t>      con Banco Pichincha y apoyo de NotebookLM y Gemini.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42D29"/>
                </a:solidFill>
                <a:latin typeface="DejaVu Sans"/>
                <a:ea typeface="DejaVu Sans"/>
                <a:cs typeface="DejaVu Sans"/>
              </a:rPr>
              <a:t>R   Reducir cuellos de botella y conservar auditoría por 7 años.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42D29"/>
                </a:solidFill>
                <a:latin typeface="DejaVu Sans"/>
                <a:ea typeface="DejaVu Sans"/>
                <a:cs typeface="DejaVu Sans"/>
              </a:rPr>
              <a:t>T   Desarrollo proyectado hasta el 28 de febrero de 2027.</a:t>
            </a:r>
          </a:p>
        </p:txBody>
      </p:sp>
    </p:spTree>
    <p:extLst>
      <p:ext uri="{BB962C8B-B14F-4D97-AF65-F5344CB8AC3E}">
        <p14:creationId xmlns:p14="http://schemas.microsoft.com/office/powerpoint/2010/main" val="88557541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A0CEB2-FD9B-4F18-AF77-89D8EA9C8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150" b="1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150" b="1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150" b="1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150" b="1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150" b="1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150" b="1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150" b="1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150" b="1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150" b="1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42D29"/>
                </a:solidFill>
                <a:latin typeface="DejaVu Sans"/>
                <a:ea typeface="DejaVu Sans"/>
                <a:cs typeface="DejaVu Sans"/>
              </a:rPr>
              <a:t>Planificación en Notion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F74465-5ABA-41B0-9A62-794867582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1E1C1B-551A-41FD-B5B9-0CB4C84E6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619125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0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250" b="0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250" b="0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250" b="0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250" b="0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250" b="0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250" b="0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250" b="0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250" b="0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250" b="0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42D29"/>
                </a:solidFill>
                <a:latin typeface="DejaVu Sans"/>
                <a:ea typeface="DejaVu Sans"/>
                <a:cs typeface="DejaVu Sans"/>
              </a:rPr>
              <a:t>El equipo organiza el trabajo en tres vistas: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42D29"/>
                </a:solidFill>
                <a:latin typeface="DejaVu Sans"/>
                <a:ea typeface="DejaVu Sans"/>
                <a:cs typeface="DejaVu Sans"/>
              </a:rPr>
              <a:t>Tabla de actividades</a:t>
            </a:r>
          </a:p>
          <a:p xmlns:a="http://schemas.openxmlformats.org/drawingml/2006/main">
            <a:pPr>
              <a:defRPr sz="2250" b="0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42D29"/>
                </a:solidFill>
                <a:latin typeface="DejaVu Sans"/>
                <a:ea typeface="DejaVu Sans"/>
                <a:cs typeface="DejaVu Sans"/>
              </a:rPr>
              <a:t>Calendario</a:t>
            </a:r>
          </a:p>
          <a:p xmlns:a="http://schemas.openxmlformats.org/drawingml/2006/main">
            <a:pPr>
              <a:defRPr sz="2250" b="0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42D29"/>
                </a:solidFill>
                <a:latin typeface="DejaVu Sans"/>
                <a:ea typeface="DejaVu Sans"/>
                <a:cs typeface="DejaVu Sans"/>
              </a:rPr>
              <a:t>Tablero Kanban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42D29"/>
                </a:solidFill>
                <a:latin typeface="DejaVu Sans"/>
                <a:ea typeface="DejaVu Sans"/>
                <a:cs typeface="DejaVu Sans"/>
              </a:rPr>
              <a:t>Corte del estado: 27 de octubre de 2026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2FE21A-446A-4BDA-9BC2-CACE0F8F94E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6c75f55957419c"/>
          <a:stretch xmlns:a="http://schemas.openxmlformats.org/drawingml/2006/main"/>
        </p:blipFill>
        <p:spPr>
          <a:xfrm xmlns:a="http://schemas.openxmlformats.org/drawingml/2006/main">
            <a:off x="7810500" y="1345335"/>
            <a:ext cx="3524250" cy="435783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F4074A-13FC-48F0-8426-F9FB7B6B0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16745A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00" b="1">
                <a:solidFill>
                  <a:srgbClr val="16745A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00" b="1">
                <a:solidFill>
                  <a:srgbClr val="16745A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00" b="1">
                <a:solidFill>
                  <a:srgbClr val="16745A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00" b="1">
                <a:solidFill>
                  <a:srgbClr val="16745A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00" b="1">
                <a:solidFill>
                  <a:srgbClr val="16745A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00" b="1">
                <a:solidFill>
                  <a:srgbClr val="16745A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00" b="1">
                <a:solidFill>
                  <a:srgbClr val="16745A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00" b="1">
                <a:solidFill>
                  <a:srgbClr val="16745A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00" b="1">
                <a:solidFill>
                  <a:srgbClr val="16745A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6745A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6745A"/>
                </a:solidFill>
                <a:latin typeface="DejaVu Sans"/>
                <a:ea typeface="DejaVu Sans"/>
                <a:cs typeface="DejaVu Sans"/>
                <a:hlinkClick xmlns:r="http://schemas.openxmlformats.org/officeDocument/2006/relationships" r:id="R7397383d232a4477"/>
              </a:rPr>
              <a:t>Abrir el espacio de trabajo en Notion</a:t>
            </a:r>
          </a:p>
        </p:txBody>
      </p:sp>
    </p:spTree>
    <p:extLst>
      <p:ext uri="{BB962C8B-B14F-4D97-AF65-F5344CB8AC3E}">
        <p14:creationId xmlns:p14="http://schemas.microsoft.com/office/powerpoint/2010/main" val="67708380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D2E273-3292-46A6-8F06-6AE1331EB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150" b="1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150" b="1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150" b="1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150" b="1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150" b="1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150" b="1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150" b="1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150" b="1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150" b="1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42D29"/>
                </a:solidFill>
                <a:latin typeface="DejaVu Sans"/>
                <a:ea typeface="DejaVu Sans"/>
                <a:cs typeface="DejaVu Sans"/>
              </a:rPr>
              <a:t>Cronograma de actividades 1/2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295230-097E-4834-AA86-FF68B3BAA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rPr>
              <a:t>06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3D1C96-B751-41BF-9459-CE6A11C7A4BB}"/>
              </a:ext>
            </a:extLst>
          </p:cNvPr>
          <p:cNvGraphicFramePr/>
          <p:nvPr/>
        </p:nvGraphicFramePr>
        <p:xfrm>
          <a:off xmlns:a="http://schemas.openxmlformats.org/drawingml/2006/main" x="609600" y="1524000"/>
          <a:ext xmlns:a="http://schemas.openxmlformats.org/drawingml/2006/main" cx="109728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524250"/>
                <a:gridCol w="2381250"/>
                <a:gridCol w="2190750"/>
                <a:gridCol w="2876550"/>
              </a:tblGrid>
              <a:tr h="7429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Tarea / Entregable</a:t>
                      </a:r>
                    </a:p>
                  </a:txBody>
                  <a:tcPr marL="91440" marR="91440" marT="45720" marB="45720">
                    <a:solidFill>
                      <a:srgbClr val="142D2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Periodo</a:t>
                      </a:r>
                    </a:p>
                  </a:txBody>
                  <a:tcPr marL="91440" marR="91440" marT="45720" marB="45720">
                    <a:solidFill>
                      <a:srgbClr val="142D2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Estado al 27/10/26</a:t>
                      </a:r>
                    </a:p>
                  </a:txBody>
                  <a:tcPr marL="91440" marR="91440" marT="45720" marB="45720">
                    <a:solidFill>
                      <a:srgbClr val="142D2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Responsables</a:t>
                      </a:r>
                    </a:p>
                  </a:txBody>
                  <a:tcPr marL="91440" marR="91440" marT="45720" marB="45720">
                    <a:solidFill>
                      <a:srgbClr val="142D29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2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Planificación y levantamiento SRS</a:t>
                      </a:r>
                    </a:p>
                  </a:txBody>
                  <a:tcPr marL="91440" marR="91440" marT="45720" marB="45720">
                    <a:solidFill>
                      <a:srgbClr val="EAF0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2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01/09/26 – 15/09/26</a:t>
                      </a:r>
                    </a:p>
                  </a:txBody>
                  <a:tcPr marL="91440" marR="91440" marT="45720" marB="45720">
                    <a:solidFill>
                      <a:srgbClr val="EAF0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2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Finalizado informado</a:t>
                      </a:r>
                    </a:p>
                  </a:txBody>
                  <a:tcPr marL="91440" marR="91440" marT="45720" marB="45720">
                    <a:solidFill>
                      <a:srgbClr val="EAF0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2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Deivis Q., Gabriel C., Victoria D.</a:t>
                      </a:r>
                    </a:p>
                  </a:txBody>
                  <a:tcPr marL="91440" marR="91440" marT="45720" marB="45720">
                    <a:solidFill>
                      <a:srgbClr val="EAF0EB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2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Investigación y cuadernos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2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16/09/26 – 30/09/26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2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Finalizado informado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2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Equipo Grupo #7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2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Modelado UML</a:t>
                      </a:r>
                    </a:p>
                  </a:txBody>
                  <a:tcPr marL="91440" marR="91440" marT="45720" marB="45720">
                    <a:solidFill>
                      <a:srgbClr val="EAF0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2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01/10/26 – 22/10/26</a:t>
                      </a:r>
                    </a:p>
                  </a:txBody>
                  <a:tcPr marL="91440" marR="91440" marT="45720" marB="45720">
                    <a:solidFill>
                      <a:srgbClr val="EAF0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2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Finalizado informado</a:t>
                      </a:r>
                    </a:p>
                  </a:txBody>
                  <a:tcPr marL="91440" marR="91440" marT="45720" marB="45720">
                    <a:solidFill>
                      <a:srgbClr val="EAF0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2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Equipo Grupo #7</a:t>
                      </a:r>
                    </a:p>
                  </a:txBody>
                  <a:tcPr marL="91440" marR="91440" marT="45720" marB="45720">
                    <a:solidFill>
                      <a:srgbClr val="EAF0EB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2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Asistente GEM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2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23/10/26 – 15/11/26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2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GEM enlazado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2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Equipo Grupo #7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C263DF-75EC-4C55-A848-BD636B2FC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6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6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6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6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6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6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6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6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6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52645F"/>
                </a:solidFill>
                <a:latin typeface="DejaVu Sans"/>
                <a:ea typeface="DejaVu Sans"/>
                <a:cs typeface="DejaVu Sans"/>
              </a:rPr>
              <a:t>Fechas, responsables y estados según el informe original.</a:t>
            </a:r>
          </a:p>
        </p:txBody>
      </p:sp>
    </p:spTree>
    <p:extLst>
      <p:ext uri="{BB962C8B-B14F-4D97-AF65-F5344CB8AC3E}">
        <p14:creationId xmlns:p14="http://schemas.microsoft.com/office/powerpoint/2010/main" val="192593071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A2704C-35F2-4023-9948-D14C45F99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150" b="1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150" b="1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150" b="1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150" b="1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150" b="1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150" b="1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150" b="1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150" b="1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150" b="1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42D29"/>
                </a:solidFill>
                <a:latin typeface="DejaVu Sans"/>
                <a:ea typeface="DejaVu Sans"/>
                <a:cs typeface="DejaVu Sans"/>
              </a:rPr>
              <a:t>Cronograma de actividades 2/2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8B4D04-FC04-4D8A-B3BE-4149059EB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rPr>
              <a:t>07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13DFDE-816B-4CFC-A5EF-8DF9446EB16B}"/>
              </a:ext>
            </a:extLst>
          </p:cNvPr>
          <p:cNvGraphicFramePr/>
          <p:nvPr/>
        </p:nvGraphicFramePr>
        <p:xfrm>
          <a:off xmlns:a="http://schemas.openxmlformats.org/drawingml/2006/main" x="609600" y="1524000"/>
          <a:ext xmlns:a="http://schemas.openxmlformats.org/drawingml/2006/main" cx="109728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524250"/>
                <a:gridCol w="2381250"/>
                <a:gridCol w="2190750"/>
                <a:gridCol w="2876550"/>
              </a:tblGrid>
              <a:tr h="7429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Tarea / Entregable</a:t>
                      </a:r>
                    </a:p>
                  </a:txBody>
                  <a:tcPr marL="91440" marR="91440" marT="45720" marB="45720">
                    <a:solidFill>
                      <a:srgbClr val="142D2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Periodo</a:t>
                      </a:r>
                    </a:p>
                  </a:txBody>
                  <a:tcPr marL="91440" marR="91440" marT="45720" marB="45720">
                    <a:solidFill>
                      <a:srgbClr val="142D2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Estado al 27/10/26</a:t>
                      </a:r>
                    </a:p>
                  </a:txBody>
                  <a:tcPr marL="91440" marR="91440" marT="45720" marB="45720">
                    <a:solidFill>
                      <a:srgbClr val="142D2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Responsables</a:t>
                      </a:r>
                    </a:p>
                  </a:txBody>
                  <a:tcPr marL="91440" marR="91440" marT="45720" marB="45720">
                    <a:solidFill>
                      <a:srgbClr val="142D29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2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Prototipo y actividad gamificada</a:t>
                      </a:r>
                    </a:p>
                  </a:txBody>
                  <a:tcPr marL="91440" marR="91440" marT="45720" marB="45720">
                    <a:solidFill>
                      <a:srgbClr val="EAF0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2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16/11/26 – 15/12/26</a:t>
                      </a:r>
                    </a:p>
                  </a:txBody>
                  <a:tcPr marL="91440" marR="91440" marT="45720" marB="45720">
                    <a:solidFill>
                      <a:srgbClr val="EAF0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2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Juego enlazado</a:t>
                      </a:r>
                    </a:p>
                  </a:txBody>
                  <a:tcPr marL="91440" marR="91440" marT="45720" marB="45720">
                    <a:solidFill>
                      <a:srgbClr val="EAF0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2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Equipo Grupo #7</a:t>
                      </a:r>
                    </a:p>
                  </a:txBody>
                  <a:tcPr marL="91440" marR="91440" marT="45720" marB="45720">
                    <a:solidFill>
                      <a:srgbClr val="EAF0EB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2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Backend y banca móvil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2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16/12/26 – 15/01/27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2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Programado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2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Equipo Grupo #7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2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Piezas visuales y usabilidad</a:t>
                      </a:r>
                    </a:p>
                  </a:txBody>
                  <a:tcPr marL="91440" marR="91440" marT="45720" marB="45720">
                    <a:solidFill>
                      <a:srgbClr val="EAF0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2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16/01/27 – 15/02/27</a:t>
                      </a:r>
                    </a:p>
                  </a:txBody>
                  <a:tcPr marL="91440" marR="91440" marT="45720" marB="45720">
                    <a:solidFill>
                      <a:srgbClr val="EAF0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2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Programado</a:t>
                      </a:r>
                    </a:p>
                  </a:txBody>
                  <a:tcPr marL="91440" marR="91440" marT="45720" marB="45720">
                    <a:solidFill>
                      <a:srgbClr val="EAF0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2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Equipo Grupo #7</a:t>
                      </a:r>
                    </a:p>
                  </a:txBody>
                  <a:tcPr marL="91440" marR="91440" marT="45720" marB="45720">
                    <a:solidFill>
                      <a:srgbClr val="EAF0EB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2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Presentación y entrega final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2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16/02/27 – 28/02/27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2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Programado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2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Equipo Grupo #7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AC2BC0-9DFC-44B2-AA1E-A092F537B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6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6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6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6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6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6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6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6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6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52645F"/>
                </a:solidFill>
                <a:latin typeface="DejaVu Sans"/>
                <a:ea typeface="DejaVu Sans"/>
                <a:cs typeface="DejaVu Sans"/>
              </a:rPr>
              <a:t>Fechas, responsables y estados según el informe original.</a:t>
            </a:r>
          </a:p>
        </p:txBody>
      </p:sp>
    </p:spTree>
    <p:extLst>
      <p:ext uri="{BB962C8B-B14F-4D97-AF65-F5344CB8AC3E}">
        <p14:creationId xmlns:p14="http://schemas.microsoft.com/office/powerpoint/2010/main" val="115327647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5103A3-5A00-4473-9726-3912605A7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150" b="1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150" b="1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150" b="1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150" b="1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150" b="1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150" b="1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150" b="1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150" b="1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150" b="1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42D29"/>
                </a:solidFill>
                <a:latin typeface="DejaVu Sans"/>
                <a:ea typeface="DejaVu Sans"/>
                <a:cs typeface="DejaVu Sans"/>
              </a:rPr>
              <a:t>Cuaderno de diseño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5339A7-6E72-4E1A-B056-999BBCFB3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rPr>
              <a:t>08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29C4D8-8B75-4EDC-B0FA-B398B9F6B71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39460a9ca74d52"/>
          <a:stretch xmlns:a="http://schemas.openxmlformats.org/drawingml/2006/main"/>
        </p:blipFill>
        <p:spPr>
          <a:xfrm xmlns:a="http://schemas.openxmlformats.org/drawingml/2006/main">
            <a:off x="2007872" y="1333500"/>
            <a:ext cx="8176256" cy="42862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3FE2D1-9779-488B-A880-8DEA6658E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16745A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00" b="1">
                <a:solidFill>
                  <a:srgbClr val="16745A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00" b="1">
                <a:solidFill>
                  <a:srgbClr val="16745A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00" b="1">
                <a:solidFill>
                  <a:srgbClr val="16745A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00" b="1">
                <a:solidFill>
                  <a:srgbClr val="16745A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00" b="1">
                <a:solidFill>
                  <a:srgbClr val="16745A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00" b="1">
                <a:solidFill>
                  <a:srgbClr val="16745A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00" b="1">
                <a:solidFill>
                  <a:srgbClr val="16745A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00" b="1">
                <a:solidFill>
                  <a:srgbClr val="16745A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00" b="1">
                <a:solidFill>
                  <a:srgbClr val="16745A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6745A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6745A"/>
                </a:solidFill>
                <a:latin typeface="DejaVu Sans"/>
                <a:ea typeface="DejaVu Sans"/>
                <a:cs typeface="DejaVu Sans"/>
                <a:hlinkClick xmlns:r="http://schemas.openxmlformats.org/officeDocument/2006/relationships" r:id="Rd897233b8536425e"/>
              </a:rPr>
              <a:t>Abrir NotebookLM: Diseño</a:t>
            </a:r>
          </a:p>
        </p:txBody>
      </p:sp>
    </p:spTree>
    <p:extLst>
      <p:ext uri="{BB962C8B-B14F-4D97-AF65-F5344CB8AC3E}">
        <p14:creationId xmlns:p14="http://schemas.microsoft.com/office/powerpoint/2010/main" val="127508734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DC7AF9-BDBE-415F-8689-AEF52BF41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150" b="1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150" b="1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150" b="1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150" b="1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150" b="1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150" b="1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150" b="1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150" b="1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150" b="1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42D29"/>
                </a:solidFill>
                <a:latin typeface="DejaVu Sans"/>
                <a:ea typeface="DejaVu Sans"/>
                <a:cs typeface="DejaVu Sans"/>
              </a:rPr>
              <a:t>Cuaderno de análisis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6C86CD-4EF3-4840-AFB9-7EB626D20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rPr>
              <a:t>09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E4DC46-79A1-4812-8CB3-3E0E98A1872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d761caa6f047d2"/>
          <a:stretch xmlns:a="http://schemas.openxmlformats.org/drawingml/2006/main"/>
        </p:blipFill>
        <p:spPr>
          <a:xfrm xmlns:a="http://schemas.openxmlformats.org/drawingml/2006/main">
            <a:off x="2028090" y="1333500"/>
            <a:ext cx="8135820" cy="42862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4C606A-FD62-462F-86A2-3DDCA01AC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16745A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00" b="1">
                <a:solidFill>
                  <a:srgbClr val="16745A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00" b="1">
                <a:solidFill>
                  <a:srgbClr val="16745A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00" b="1">
                <a:solidFill>
                  <a:srgbClr val="16745A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00" b="1">
                <a:solidFill>
                  <a:srgbClr val="16745A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00" b="1">
                <a:solidFill>
                  <a:srgbClr val="16745A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00" b="1">
                <a:solidFill>
                  <a:srgbClr val="16745A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00" b="1">
                <a:solidFill>
                  <a:srgbClr val="16745A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00" b="1">
                <a:solidFill>
                  <a:srgbClr val="16745A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00" b="1">
                <a:solidFill>
                  <a:srgbClr val="16745A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6745A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6745A"/>
                </a:solidFill>
                <a:latin typeface="DejaVu Sans"/>
                <a:ea typeface="DejaVu Sans"/>
                <a:cs typeface="DejaVu Sans"/>
                <a:hlinkClick xmlns:r="http://schemas.openxmlformats.org/officeDocument/2006/relationships" r:id="Rfabf89a73ccf4703"/>
              </a:rPr>
              <a:t>Abrir NotebookLM: Análisis</a:t>
            </a:r>
          </a:p>
        </p:txBody>
      </p:sp>
    </p:spTree>
    <p:extLst>
      <p:ext uri="{BB962C8B-B14F-4D97-AF65-F5344CB8AC3E}">
        <p14:creationId xmlns:p14="http://schemas.microsoft.com/office/powerpoint/2010/main" val="198625561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D2CBCE-4CC1-426D-BC6E-AA8F249BD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150" b="1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150" b="1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150" b="1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150" b="1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150" b="1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150" b="1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150" b="1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150" b="1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150" b="1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42D29"/>
                </a:solidFill>
                <a:latin typeface="DejaVu Sans"/>
                <a:ea typeface="DejaVu Sans"/>
                <a:cs typeface="DejaVu Sans"/>
              </a:rPr>
              <a:t>Asistente GEM de apoyo académico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0A023D-7CBA-4097-89E6-27CE04E49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53A703-570D-4012-9BA6-EB6ECE00169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424bb062ea433b"/>
          <a:stretch xmlns:a="http://schemas.openxmlformats.org/drawingml/2006/main"/>
        </p:blipFill>
        <p:spPr>
          <a:xfrm xmlns:a="http://schemas.openxmlformats.org/drawingml/2006/main">
            <a:off x="2008013" y="1333500"/>
            <a:ext cx="8175975" cy="42862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F8375C-CB28-426C-8125-D0C823F74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16745A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00" b="1">
                <a:solidFill>
                  <a:srgbClr val="16745A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00" b="1">
                <a:solidFill>
                  <a:srgbClr val="16745A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00" b="1">
                <a:solidFill>
                  <a:srgbClr val="16745A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00" b="1">
                <a:solidFill>
                  <a:srgbClr val="16745A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00" b="1">
                <a:solidFill>
                  <a:srgbClr val="16745A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00" b="1">
                <a:solidFill>
                  <a:srgbClr val="16745A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00" b="1">
                <a:solidFill>
                  <a:srgbClr val="16745A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00" b="1">
                <a:solidFill>
                  <a:srgbClr val="16745A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00" b="1">
                <a:solidFill>
                  <a:srgbClr val="16745A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6745A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6745A"/>
                </a:solidFill>
                <a:latin typeface="DejaVu Sans"/>
                <a:ea typeface="DejaVu Sans"/>
                <a:cs typeface="DejaVu Sans"/>
                <a:hlinkClick xmlns:r="http://schemas.openxmlformats.org/officeDocument/2006/relationships" r:id="R6a38f17fa36a4bc0"/>
              </a:rPr>
              <a:t>Abrir tutor académico / agente SCRUM</a:t>
            </a:r>
          </a:p>
        </p:txBody>
      </p:sp>
    </p:spTree>
    <p:extLst>
      <p:ext uri="{BB962C8B-B14F-4D97-AF65-F5344CB8AC3E}">
        <p14:creationId xmlns:p14="http://schemas.microsoft.com/office/powerpoint/2010/main" val="9582374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248B0E-A61F-465B-AF19-8C9228AD6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150" b="1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150" b="1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150" b="1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150" b="1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150" b="1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150" b="1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150" b="1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150" b="1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150" b="1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42D29"/>
                </a:solidFill>
                <a:latin typeface="DejaVu Sans"/>
                <a:ea typeface="DejaVu Sans"/>
                <a:cs typeface="DejaVu Sans"/>
              </a:rPr>
              <a:t>Actividad gamificada: roles SCRUM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1E8C02-2029-4DE4-B313-80BC970A8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rPr>
              <a:t>11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3D38A9-7727-41EF-9356-B453018F7FD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fff3678eb34070"/>
          <a:stretch xmlns:a="http://schemas.openxmlformats.org/drawingml/2006/main"/>
        </p:blipFill>
        <p:spPr>
          <a:xfrm xmlns:a="http://schemas.openxmlformats.org/drawingml/2006/main">
            <a:off x="609600" y="1716419"/>
            <a:ext cx="6667500" cy="3520412"/>
          </a:xfrm>
          <a:prstGeom xmlns:a="http://schemas.openxmlformats.org/drawingml/2006/main" prst="rect">
            <a:avLst/>
          </a:prstGeom>
        </p:spPr>
      </p:pic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630CFB-ABCB-4585-8D35-B58D594E64E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74853e9e6b443d"/>
          <a:stretch xmlns:a="http://schemas.openxmlformats.org/drawingml/2006/main"/>
        </p:blipFill>
        <p:spPr>
          <a:xfrm xmlns:a="http://schemas.openxmlformats.org/drawingml/2006/main">
            <a:off x="7667625" y="1746619"/>
            <a:ext cx="3905250" cy="3269512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DA174F-1453-40D5-9C33-BE7B78FA1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16745A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00" b="1">
                <a:solidFill>
                  <a:srgbClr val="16745A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00" b="1">
                <a:solidFill>
                  <a:srgbClr val="16745A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00" b="1">
                <a:solidFill>
                  <a:srgbClr val="16745A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00" b="1">
                <a:solidFill>
                  <a:srgbClr val="16745A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00" b="1">
                <a:solidFill>
                  <a:srgbClr val="16745A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00" b="1">
                <a:solidFill>
                  <a:srgbClr val="16745A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00" b="1">
                <a:solidFill>
                  <a:srgbClr val="16745A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00" b="1">
                <a:solidFill>
                  <a:srgbClr val="16745A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00" b="1">
                <a:solidFill>
                  <a:srgbClr val="16745A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6745A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6745A"/>
                </a:solidFill>
                <a:latin typeface="DejaVu Sans"/>
                <a:ea typeface="DejaVu Sans"/>
                <a:cs typeface="DejaVu Sans"/>
                <a:hlinkClick xmlns:r="http://schemas.openxmlformats.org/officeDocument/2006/relationships" r:id="R92ef456caa7c4d77"/>
              </a:rPr>
              <a:t>Abrir la ruleta gamificada de roles SCRUM</a:t>
            </a:r>
          </a:p>
        </p:txBody>
      </p:sp>
    </p:spTree>
    <p:extLst>
      <p:ext uri="{BB962C8B-B14F-4D97-AF65-F5344CB8AC3E}">
        <p14:creationId xmlns:p14="http://schemas.microsoft.com/office/powerpoint/2010/main" val="31664505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F20F04-D31A-4E3C-97AE-5940C9531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150" b="1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150" b="1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150" b="1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150" b="1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150" b="1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150" b="1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150" b="1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150" b="1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150" b="1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42D29"/>
                </a:solidFill>
                <a:latin typeface="DejaVu Sans"/>
                <a:ea typeface="DejaVu Sans"/>
                <a:cs typeface="DejaVu Sans"/>
              </a:rPr>
              <a:t>Prototipo de usabilidad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2AC509-29EC-49AB-B46A-2543E6BFB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rPr>
              <a:t>12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B243F7-9077-46B3-9760-0AF6F39F7BB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eeaa64208e405b"/>
          <a:stretch xmlns:a="http://schemas.openxmlformats.org/drawingml/2006/main"/>
        </p:blipFill>
        <p:spPr>
          <a:xfrm xmlns:a="http://schemas.openxmlformats.org/drawingml/2006/main">
            <a:off x="2037808" y="1333500"/>
            <a:ext cx="8116383" cy="42862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F40EC4-D7C1-4DD9-B0AA-3FE7D42F2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16745A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00" b="1">
                <a:solidFill>
                  <a:srgbClr val="16745A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00" b="1">
                <a:solidFill>
                  <a:srgbClr val="16745A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00" b="1">
                <a:solidFill>
                  <a:srgbClr val="16745A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00" b="1">
                <a:solidFill>
                  <a:srgbClr val="16745A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00" b="1">
                <a:solidFill>
                  <a:srgbClr val="16745A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00" b="1">
                <a:solidFill>
                  <a:srgbClr val="16745A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00" b="1">
                <a:solidFill>
                  <a:srgbClr val="16745A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00" b="1">
                <a:solidFill>
                  <a:srgbClr val="16745A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00" b="1">
                <a:solidFill>
                  <a:srgbClr val="16745A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6745A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6745A"/>
                </a:solidFill>
                <a:latin typeface="DejaVu Sans"/>
                <a:ea typeface="DejaVu Sans"/>
                <a:cs typeface="DejaVu Sans"/>
                <a:hlinkClick xmlns:r="http://schemas.openxmlformats.org/officeDocument/2006/relationships" r:id="R0ec3da245dd640b7"/>
              </a:rPr>
              <a:t>Abrir el prototipo de Canchas Don Pepito</a:t>
            </a:r>
          </a:p>
        </p:txBody>
      </p:sp>
    </p:spTree>
    <p:extLst>
      <p:ext uri="{BB962C8B-B14F-4D97-AF65-F5344CB8AC3E}">
        <p14:creationId xmlns:p14="http://schemas.microsoft.com/office/powerpoint/2010/main" val="105829614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48DB66-8051-4CDF-A1EE-1B0B2E18F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150" b="1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150" b="1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150" b="1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150" b="1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150" b="1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150" b="1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150" b="1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150" b="1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150" b="1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42D29"/>
                </a:solidFill>
                <a:latin typeface="DejaVu Sans"/>
                <a:ea typeface="DejaVu Sans"/>
                <a:cs typeface="DejaVu Sans"/>
              </a:rPr>
              <a:t>Identidad y recursos del proyecto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70AD89-BABB-4E17-ACDB-9E17ACF6E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rPr>
              <a:t>13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9B0161-C5A9-40DA-82F7-EAAF6045446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b6a0b5b6774e03"/>
          <a:stretch xmlns:a="http://schemas.openxmlformats.org/drawingml/2006/main"/>
        </p:blipFill>
        <p:spPr>
          <a:xfrm xmlns:a="http://schemas.openxmlformats.org/drawingml/2006/main">
            <a:off x="714375" y="1524000"/>
            <a:ext cx="4095750" cy="4095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C352CA-2C94-4F11-ACB2-BCF23FEE4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000250"/>
            <a:ext cx="6096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0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250" b="0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250" b="0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250" b="0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250" b="0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250" b="0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250" b="0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250" b="0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250" b="0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250" b="0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42D29"/>
                </a:solidFill>
                <a:latin typeface="DejaVu Sans"/>
                <a:ea typeface="DejaVu Sans"/>
                <a:cs typeface="DejaVu Sans"/>
              </a:rPr>
              <a:t>Identidad visual de Canchas Don Pepito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42D29"/>
                </a:solidFill>
                <a:latin typeface="DejaVu Sans"/>
                <a:ea typeface="DejaVu Sans"/>
                <a:cs typeface="DejaVu Sans"/>
              </a:rPr>
              <a:t>La carpeta del proyecto reúne el logo</a:t>
            </a:r>
          </a:p>
          <a:p xmlns:a="http://schemas.openxmlformats.org/drawingml/2006/main">
            <a:pPr>
              <a:defRPr sz="2250" b="0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42D29"/>
                </a:solidFill>
                <a:latin typeface="DejaVu Sans"/>
                <a:ea typeface="DejaVu Sans"/>
                <a:cs typeface="DejaVu Sans"/>
              </a:rPr>
              <a:t>y los elementos visuales de apoyo.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F4793F-D40E-427A-B0EB-314EFEE89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16745A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00" b="1">
                <a:solidFill>
                  <a:srgbClr val="16745A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00" b="1">
                <a:solidFill>
                  <a:srgbClr val="16745A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00" b="1">
                <a:solidFill>
                  <a:srgbClr val="16745A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00" b="1">
                <a:solidFill>
                  <a:srgbClr val="16745A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00" b="1">
                <a:solidFill>
                  <a:srgbClr val="16745A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00" b="1">
                <a:solidFill>
                  <a:srgbClr val="16745A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00" b="1">
                <a:solidFill>
                  <a:srgbClr val="16745A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00" b="1">
                <a:solidFill>
                  <a:srgbClr val="16745A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00" b="1">
                <a:solidFill>
                  <a:srgbClr val="16745A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6745A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6745A"/>
                </a:solidFill>
                <a:latin typeface="DejaVu Sans"/>
                <a:ea typeface="DejaVu Sans"/>
                <a:cs typeface="DejaVu Sans"/>
                <a:hlinkClick xmlns:r="http://schemas.openxmlformats.org/officeDocument/2006/relationships" r:id="R1fee9a07aea14812"/>
              </a:rPr>
              <a:t>Abrir carpeta de assets y logo en Google Drive</a:t>
            </a:r>
          </a:p>
        </p:txBody>
      </p:sp>
    </p:spTree>
    <p:extLst>
      <p:ext uri="{BB962C8B-B14F-4D97-AF65-F5344CB8AC3E}">
        <p14:creationId xmlns:p14="http://schemas.microsoft.com/office/powerpoint/2010/main" val="173114690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FBC5A6-ACAF-4076-8190-CC02893D5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150" b="1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150" b="1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150" b="1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150" b="1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150" b="1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150" b="1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150" b="1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150" b="1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150" b="1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42D29"/>
                </a:solidFill>
                <a:latin typeface="DejaVu Sans"/>
                <a:ea typeface="DejaVu Sans"/>
                <a:cs typeface="DejaVu Sans"/>
              </a:rPr>
              <a:t>Enlaces del proyecto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B37A7E-A1A1-48DA-B3D4-92EDAB754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rPr>
              <a:t>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96FE2E-7E6B-4136-80BA-EA713A307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16745A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00" b="1">
                <a:solidFill>
                  <a:srgbClr val="16745A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00" b="1">
                <a:solidFill>
                  <a:srgbClr val="16745A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00" b="1">
                <a:solidFill>
                  <a:srgbClr val="16745A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00" b="1">
                <a:solidFill>
                  <a:srgbClr val="16745A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00" b="1">
                <a:solidFill>
                  <a:srgbClr val="16745A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00" b="1">
                <a:solidFill>
                  <a:srgbClr val="16745A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00" b="1">
                <a:solidFill>
                  <a:srgbClr val="16745A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00" b="1">
                <a:solidFill>
                  <a:srgbClr val="16745A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00" b="1">
                <a:solidFill>
                  <a:srgbClr val="16745A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6745A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6745A"/>
                </a:solidFill>
                <a:latin typeface="DejaVu Sans"/>
                <a:ea typeface="DejaVu Sans"/>
                <a:cs typeface="DejaVu Sans"/>
                <a:hlinkClick xmlns:r="http://schemas.openxmlformats.org/officeDocument/2006/relationships" r:id="Raf9a599b585e4040"/>
              </a:rPr>
              <a:t>NotebookLM · Diseño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0D35C5-2BA4-48B3-9E3C-C40B93B05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28825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16745A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00" b="1">
                <a:solidFill>
                  <a:srgbClr val="16745A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00" b="1">
                <a:solidFill>
                  <a:srgbClr val="16745A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00" b="1">
                <a:solidFill>
                  <a:srgbClr val="16745A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00" b="1">
                <a:solidFill>
                  <a:srgbClr val="16745A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00" b="1">
                <a:solidFill>
                  <a:srgbClr val="16745A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00" b="1">
                <a:solidFill>
                  <a:srgbClr val="16745A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00" b="1">
                <a:solidFill>
                  <a:srgbClr val="16745A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00" b="1">
                <a:solidFill>
                  <a:srgbClr val="16745A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00" b="1">
                <a:solidFill>
                  <a:srgbClr val="16745A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6745A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6745A"/>
                </a:solidFill>
                <a:latin typeface="DejaVu Sans"/>
                <a:ea typeface="DejaVu Sans"/>
                <a:cs typeface="DejaVu Sans"/>
                <a:hlinkClick xmlns:r="http://schemas.openxmlformats.org/officeDocument/2006/relationships" r:id="R1d970abfd39e4e43"/>
              </a:rPr>
              <a:t>NotebookLM · Análisis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859E7D-C613-4721-AB62-33397EC9F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16745A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00" b="1">
                <a:solidFill>
                  <a:srgbClr val="16745A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00" b="1">
                <a:solidFill>
                  <a:srgbClr val="16745A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00" b="1">
                <a:solidFill>
                  <a:srgbClr val="16745A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00" b="1">
                <a:solidFill>
                  <a:srgbClr val="16745A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00" b="1">
                <a:solidFill>
                  <a:srgbClr val="16745A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00" b="1">
                <a:solidFill>
                  <a:srgbClr val="16745A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00" b="1">
                <a:solidFill>
                  <a:srgbClr val="16745A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00" b="1">
                <a:solidFill>
                  <a:srgbClr val="16745A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00" b="1">
                <a:solidFill>
                  <a:srgbClr val="16745A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6745A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6745A"/>
                </a:solidFill>
                <a:latin typeface="DejaVu Sans"/>
                <a:ea typeface="DejaVu Sans"/>
                <a:cs typeface="DejaVu Sans"/>
                <a:hlinkClick xmlns:r="http://schemas.openxmlformats.org/officeDocument/2006/relationships" r:id="R26e6481dedba488d"/>
              </a:rPr>
              <a:t>Gemini · Tutor académico / SCRUM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667C41-C4B4-4B9A-9F88-854FAD2C9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67075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16745A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00" b="1">
                <a:solidFill>
                  <a:srgbClr val="16745A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00" b="1">
                <a:solidFill>
                  <a:srgbClr val="16745A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00" b="1">
                <a:solidFill>
                  <a:srgbClr val="16745A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00" b="1">
                <a:solidFill>
                  <a:srgbClr val="16745A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00" b="1">
                <a:solidFill>
                  <a:srgbClr val="16745A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00" b="1">
                <a:solidFill>
                  <a:srgbClr val="16745A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00" b="1">
                <a:solidFill>
                  <a:srgbClr val="16745A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00" b="1">
                <a:solidFill>
                  <a:srgbClr val="16745A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00" b="1">
                <a:solidFill>
                  <a:srgbClr val="16745A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6745A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6745A"/>
                </a:solidFill>
                <a:latin typeface="DejaVu Sans"/>
                <a:ea typeface="DejaVu Sans"/>
                <a:cs typeface="DejaVu Sans"/>
                <a:hlinkClick xmlns:r="http://schemas.openxmlformats.org/officeDocument/2006/relationships" r:id="R201f5e68f7384994"/>
              </a:rPr>
              <a:t>Gemini · Ruleta de roles SCRUM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F28A39-CAC6-416A-97BD-4EB046A92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862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16745A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00" b="1">
                <a:solidFill>
                  <a:srgbClr val="16745A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00" b="1">
                <a:solidFill>
                  <a:srgbClr val="16745A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00" b="1">
                <a:solidFill>
                  <a:srgbClr val="16745A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00" b="1">
                <a:solidFill>
                  <a:srgbClr val="16745A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00" b="1">
                <a:solidFill>
                  <a:srgbClr val="16745A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00" b="1">
                <a:solidFill>
                  <a:srgbClr val="16745A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00" b="1">
                <a:solidFill>
                  <a:srgbClr val="16745A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00" b="1">
                <a:solidFill>
                  <a:srgbClr val="16745A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00" b="1">
                <a:solidFill>
                  <a:srgbClr val="16745A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6745A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6745A"/>
                </a:solidFill>
                <a:latin typeface="DejaVu Sans"/>
                <a:ea typeface="DejaVu Sans"/>
                <a:cs typeface="DejaVu Sans"/>
                <a:hlinkClick xmlns:r="http://schemas.openxmlformats.org/officeDocument/2006/relationships" r:id="Rf30236efa7e148e7"/>
              </a:rPr>
              <a:t>Vercel · Prototipo de usabilidad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EFD689-3990-49FD-B5CD-744B68CFB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05325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16745A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00" b="1">
                <a:solidFill>
                  <a:srgbClr val="16745A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00" b="1">
                <a:solidFill>
                  <a:srgbClr val="16745A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00" b="1">
                <a:solidFill>
                  <a:srgbClr val="16745A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00" b="1">
                <a:solidFill>
                  <a:srgbClr val="16745A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00" b="1">
                <a:solidFill>
                  <a:srgbClr val="16745A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00" b="1">
                <a:solidFill>
                  <a:srgbClr val="16745A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00" b="1">
                <a:solidFill>
                  <a:srgbClr val="16745A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00" b="1">
                <a:solidFill>
                  <a:srgbClr val="16745A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00" b="1">
                <a:solidFill>
                  <a:srgbClr val="16745A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6745A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6745A"/>
                </a:solidFill>
                <a:latin typeface="DejaVu Sans"/>
                <a:ea typeface="DejaVu Sans"/>
                <a:cs typeface="DejaVu Sans"/>
                <a:hlinkClick xmlns:r="http://schemas.openxmlformats.org/officeDocument/2006/relationships" r:id="Rf4c7d7af651642e6"/>
              </a:rPr>
              <a:t>Google Drive · Assets y logo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FCE06B-E085-4C3E-8466-F4081C14B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2445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16745A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00" b="1">
                <a:solidFill>
                  <a:srgbClr val="16745A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00" b="1">
                <a:solidFill>
                  <a:srgbClr val="16745A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00" b="1">
                <a:solidFill>
                  <a:srgbClr val="16745A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00" b="1">
                <a:solidFill>
                  <a:srgbClr val="16745A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00" b="1">
                <a:solidFill>
                  <a:srgbClr val="16745A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00" b="1">
                <a:solidFill>
                  <a:srgbClr val="16745A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00" b="1">
                <a:solidFill>
                  <a:srgbClr val="16745A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00" b="1">
                <a:solidFill>
                  <a:srgbClr val="16745A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00" b="1">
                <a:solidFill>
                  <a:srgbClr val="16745A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6745A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6745A"/>
                </a:solidFill>
                <a:latin typeface="DejaVu Sans"/>
                <a:ea typeface="DejaVu Sans"/>
                <a:cs typeface="DejaVu Sans"/>
                <a:hlinkClick xmlns:r="http://schemas.openxmlformats.org/officeDocument/2006/relationships" r:id="R82dc05e937d641a0"/>
              </a:rPr>
              <a:t>Notion · Espacio de trabajo</a:t>
            </a:r>
          </a:p>
        </p:txBody>
      </p:sp>
    </p:spTree>
    <p:extLst>
      <p:ext uri="{BB962C8B-B14F-4D97-AF65-F5344CB8AC3E}">
        <p14:creationId xmlns:p14="http://schemas.microsoft.com/office/powerpoint/2010/main" val="4179192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FE1CE9-57E9-4972-885C-48D4CFBFD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150" b="1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150" b="1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150" b="1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150" b="1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150" b="1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150" b="1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150" b="1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150" b="1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150" b="1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42D29"/>
                </a:solidFill>
                <a:latin typeface="DejaVu Sans"/>
                <a:ea typeface="DejaVu Sans"/>
                <a:cs typeface="DejaVu Sans"/>
              </a:rPr>
              <a:t>Reflexión académica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0190CE-B9CC-4A7C-9F3C-20DA99543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rPr>
              <a:t>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F0F00F-C4B0-4C68-A4A8-D30831520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1097280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0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325" b="0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325" b="0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325" b="0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325" b="0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325" b="0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325" b="0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325" b="0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325" b="0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325" b="0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142D29"/>
                </a:solidFill>
                <a:latin typeface="DejaVu Sans"/>
                <a:ea typeface="DejaVu Sans"/>
                <a:cs typeface="DejaVu Sans"/>
              </a:rPr>
              <a:t>La metodología P.A.R.A. ayudó a organizar las fases de requisitos y diseño UML con mayor trazabilidad.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325" b="0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142D29"/>
                </a:solidFill>
                <a:latin typeface="DejaVu Sans"/>
                <a:ea typeface="DejaVu Sans"/>
                <a:cs typeface="DejaVu Sans"/>
              </a:rPr>
              <a:t>NotebookLM y Gemini apoyaron la consulta de materiales y la generación de modificaciones durante el trabajo.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325" b="0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142D29"/>
                </a:solidFill>
                <a:latin typeface="DejaVu Sans"/>
                <a:ea typeface="DejaVu Sans"/>
                <a:cs typeface="DejaVu Sans"/>
              </a:rPr>
              <a:t>La experiencia vincula un problema operativo real con una propuesta de solución digital y refuerza la aplicación profesional de la ingeniería de software.</a:t>
            </a:r>
          </a:p>
        </p:txBody>
      </p:sp>
    </p:spTree>
    <p:extLst>
      <p:ext uri="{BB962C8B-B14F-4D97-AF65-F5344CB8AC3E}">
        <p14:creationId xmlns:p14="http://schemas.microsoft.com/office/powerpoint/2010/main" val="171374746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C70525-7B8D-4AA1-B652-339D536F8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150" b="1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150" b="1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150" b="1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150" b="1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150" b="1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150" b="1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150" b="1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150" b="1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150" b="1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42D29"/>
                </a:solidFill>
                <a:latin typeface="DejaVu Sans"/>
                <a:ea typeface="DejaVu Sans"/>
                <a:cs typeface="DejaVu Sans"/>
              </a:rPr>
              <a:t>Datos del informe por confirmar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5B2F85-C0C7-47B4-B2B3-7E9FC2B91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2645F"/>
                </a:solidFill>
                <a:latin typeface="DejaVu Sans"/>
                <a:ea typeface="DejaVu Sans"/>
                <a:cs typeface="DejaVu Sans"/>
              </a:rPr>
              <a:t>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770EE5-EB4B-45E8-93DA-24ED04B37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97280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0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0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0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0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0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0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0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0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0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42D29"/>
                </a:solidFill>
                <a:latin typeface="DejaVu Sans"/>
                <a:ea typeface="DejaVu Sans"/>
                <a:cs typeface="DejaVu Sans"/>
              </a:rPr>
              <a:t>Meta de adopción</a:t>
            </a:r>
          </a:p>
          <a:p xmlns:a="http://schemas.openxmlformats.org/drawingml/2006/main">
            <a:pPr>
              <a:defRPr sz="2025" b="0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42D29"/>
                </a:solidFill>
                <a:latin typeface="DejaVu Sans"/>
                <a:ea typeface="DejaVu Sans"/>
                <a:cs typeface="DejaVu Sans"/>
              </a:rPr>
              <a:t>La matriz indica más del 88,9%. El objetivo consolidado indica 88%.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42D29"/>
                </a:solidFill>
                <a:latin typeface="DejaVu Sans"/>
                <a:ea typeface="DejaVu Sans"/>
                <a:cs typeface="DejaVu Sans"/>
              </a:rPr>
              <a:t>Inicio del desarrollo</a:t>
            </a:r>
          </a:p>
          <a:p xmlns:a="http://schemas.openxmlformats.org/drawingml/2006/main">
            <a:pPr>
              <a:defRPr sz="2025" b="0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42D29"/>
                </a:solidFill>
                <a:latin typeface="DejaVu Sans"/>
                <a:ea typeface="DejaVu Sans"/>
                <a:cs typeface="DejaVu Sans"/>
              </a:rPr>
              <a:t>El objetivo SMART indica 09/09/2026. El cronograma inicia 01/09/2026.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42D29"/>
                </a:solidFill>
                <a:latin typeface="DejaVu Sans"/>
                <a:ea typeface="DejaVu Sans"/>
                <a:cs typeface="DejaVu Sans"/>
              </a:rPr>
              <a:t>Responsables de planificación</a:t>
            </a:r>
          </a:p>
          <a:p xmlns:a="http://schemas.openxmlformats.org/drawingml/2006/main">
            <a:pPr>
              <a:defRPr sz="2025" b="0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42D29"/>
                </a:solidFill>
                <a:latin typeface="DejaVu Sans"/>
                <a:ea typeface="DejaVu Sans"/>
                <a:cs typeface="DejaVu Sans"/>
              </a:rPr>
              <a:t>La tabla menciona a Deivis Q., Gabriel C. y Victoria D., mientras</a:t>
            </a:r>
          </a:p>
          <a:p xmlns:a="http://schemas.openxmlformats.org/drawingml/2006/main">
            <a:pPr>
              <a:defRPr sz="2025" b="0">
                <a:solidFill>
                  <a:srgbClr val="142D29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42D29"/>
                </a:solidFill>
                <a:latin typeface="DejaVu Sans"/>
                <a:ea typeface="DejaVu Sans"/>
                <a:cs typeface="DejaVu Sans"/>
              </a:rPr>
              <a:t>la portada identifica a Bryan, Benjamín y Victoria como integrantes.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BCDE5B-4DE8-48D1-BFAE-A342FA35C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1076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6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6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6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6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6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6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6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6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6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2645F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52645F"/>
                </a:solidFill>
                <a:latin typeface="DejaVu Sans"/>
                <a:ea typeface="DejaVu Sans"/>
                <a:cs typeface="DejaVu Sans"/>
              </a:rPr>
              <a:t>Estos datos se conservan para revisión del equipo antes de la exposición.</a:t>
            </a:r>
          </a:p>
        </p:txBody>
      </p:sp>
    </p:spTree>
    <p:extLst>
      <p:ext uri="{BB962C8B-B14F-4D97-AF65-F5344CB8AC3E}">
        <p14:creationId xmlns:p14="http://schemas.microsoft.com/office/powerpoint/2010/main" val="114258617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2026-10-28T20:40:37.1360000Z</dcterms:created>
  <dcterms:modified xsi:type="dcterms:W3CDTF">2026-10-28T20:40:37.1360000Z</dcterms:modified>
</coreProperties>
</file>